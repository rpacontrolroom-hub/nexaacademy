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70" r:id="rId2"/>
    <p:sldId id="271" r:id="rId3"/>
  </p:sldIdLst>
  <p:sldSz cx="10693400" cy="7556500"/>
  <p:notesSz cx="6797675" cy="9926638"/>
  <p:embeddedFontLst>
    <p:embeddedFont>
      <p:font typeface="Georgia" panose="02040502050405020303" pitchFamily="18" charset="0"/>
      <p:regular r:id="rId5"/>
      <p:bold r:id="rId6"/>
      <p:italic r:id="rId7"/>
      <p:boldItalic r:id="rId8"/>
    </p:embeddedFont>
    <p:embeddedFont>
      <p:font typeface="Helvetica Neue" panose="020B0604020202020204" charset="0"/>
      <p:regular r:id="rId9"/>
      <p:bold r:id="rId10"/>
      <p:italic r:id="rId11"/>
      <p:boldItalic r:id="rId12"/>
    </p:embeddedFont>
    <p:embeddedFont>
      <p:font typeface="Helvetica Neue Light" panose="020B0604020202020204" charset="0"/>
      <p:regular r:id="rId13"/>
      <p:bold r:id="rId14"/>
      <p:italic r:id="rId15"/>
      <p:boldItalic r:id="rId16"/>
    </p:embeddedFont>
    <p:embeddedFont>
      <p:font typeface="Montserrat ExtraBold" panose="00000900000000000000" pitchFamily="2" charset="0"/>
      <p:bold r:id="rId17"/>
      <p:boldItalic r:id="rId18"/>
    </p:embeddedFont>
    <p:embeddedFont>
      <p:font typeface="Montserrat Medium" panose="000006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0" roundtripDataSignature="AMtx7mjyp7GAhp/LadjpyRsPhMCNojQ7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1380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17.fntdata"/><Relationship Id="rId42" Type="http://schemas.openxmlformats.org/officeDocument/2006/relationships/viewProps" Target="viewProps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12.fntdata"/><Relationship Id="rId20" Type="http://schemas.openxmlformats.org/officeDocument/2006/relationships/font" Target="fonts/font16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40" Type="http://customschemas.google.com/relationships/presentationmetadata" Target="meta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10" Type="http://schemas.openxmlformats.org/officeDocument/2006/relationships/font" Target="fonts/font6.fntdata"/><Relationship Id="rId19" Type="http://schemas.openxmlformats.org/officeDocument/2006/relationships/font" Target="fonts/font15.fntdata"/><Relationship Id="rId44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Relationship Id="rId22" Type="http://schemas.openxmlformats.org/officeDocument/2006/relationships/font" Target="fonts/font18.fntdata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766763" y="744538"/>
            <a:ext cx="5265737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493a761e7_0_81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g3f493a761e7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65175" y="744538"/>
            <a:ext cx="52673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493a761e7_0_591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g3f493a761e7_0_5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66763" y="744538"/>
            <a:ext cx="5265737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f493a761e7_0_81"/>
          <p:cNvSpPr/>
          <p:nvPr/>
        </p:nvSpPr>
        <p:spPr>
          <a:xfrm>
            <a:off x="77375" y="82179"/>
            <a:ext cx="10518900" cy="7332300"/>
          </a:xfrm>
          <a:prstGeom prst="roundRect">
            <a:avLst>
              <a:gd name="adj" fmla="val 1637"/>
            </a:avLst>
          </a:prstGeom>
          <a:solidFill>
            <a:srgbClr val="000000">
              <a:alpha val="0"/>
            </a:srgbClr>
          </a:solidFill>
          <a:ln w="28575" cap="flat" cmpd="sng">
            <a:solidFill>
              <a:srgbClr val="004B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3f493a761e7_0_81"/>
          <p:cNvSpPr/>
          <p:nvPr/>
        </p:nvSpPr>
        <p:spPr>
          <a:xfrm>
            <a:off x="216318" y="190929"/>
            <a:ext cx="10255800" cy="7114800"/>
          </a:xfrm>
          <a:prstGeom prst="roundRect">
            <a:avLst>
              <a:gd name="adj" fmla="val 1128"/>
            </a:avLst>
          </a:prstGeom>
          <a:solidFill>
            <a:srgbClr val="000000">
              <a:alpha val="0"/>
            </a:srgbClr>
          </a:solidFill>
          <a:ln w="14300" cap="flat" cmpd="sng">
            <a:solidFill>
              <a:srgbClr val="A0D3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9" name="Google Shape;289;g3f493a761e7_0_81"/>
          <p:cNvGrpSpPr/>
          <p:nvPr/>
        </p:nvGrpSpPr>
        <p:grpSpPr>
          <a:xfrm>
            <a:off x="218403" y="363503"/>
            <a:ext cx="10166748" cy="1679834"/>
            <a:chOff x="777732" y="571360"/>
            <a:chExt cx="9690000" cy="1571701"/>
          </a:xfrm>
        </p:grpSpPr>
        <p:sp>
          <p:nvSpPr>
            <p:cNvPr id="290" name="Google Shape;290;g3f493a761e7_0_81"/>
            <p:cNvSpPr/>
            <p:nvPr/>
          </p:nvSpPr>
          <p:spPr>
            <a:xfrm>
              <a:off x="890117" y="571360"/>
              <a:ext cx="9553500" cy="1428900"/>
            </a:xfrm>
            <a:prstGeom prst="roundRect">
              <a:avLst>
                <a:gd name="adj" fmla="val 5333"/>
              </a:avLst>
            </a:prstGeom>
            <a:solidFill>
              <a:srgbClr val="004B8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g3f493a761e7_0_81"/>
            <p:cNvSpPr txBox="1"/>
            <p:nvPr/>
          </p:nvSpPr>
          <p:spPr>
            <a:xfrm>
              <a:off x="777732" y="571361"/>
              <a:ext cx="9690000" cy="157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61" b="0">
                  <a:solidFill>
                    <a:srgbClr val="FFFFF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CERTIFICADO</a:t>
              </a:r>
              <a:endParaRPr sz="4061" b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marL="0" lvl="0" indent="0" algn="ctr" rtl="0">
                <a:spcBef>
                  <a:spcPts val="401"/>
                </a:spcBef>
                <a:spcAft>
                  <a:spcPts val="0"/>
                </a:spcAft>
                <a:buNone/>
              </a:pPr>
              <a:r>
                <a:rPr lang="en-US" sz="1710" b="0">
                  <a:solidFill>
                    <a:srgbClr val="A0D3FC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DE CONCLUSÃO</a:t>
              </a:r>
              <a:endParaRPr sz="1710" b="0">
                <a:solidFill>
                  <a:srgbClr val="A0D3FC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92" name="Google Shape;292;g3f493a761e7_0_81"/>
          <p:cNvGrpSpPr/>
          <p:nvPr/>
        </p:nvGrpSpPr>
        <p:grpSpPr>
          <a:xfrm>
            <a:off x="952500" y="2333625"/>
            <a:ext cx="8791500" cy="1238175"/>
            <a:chOff x="952500" y="2333625"/>
            <a:chExt cx="8791500" cy="1238175"/>
          </a:xfrm>
        </p:grpSpPr>
        <p:sp>
          <p:nvSpPr>
            <p:cNvPr id="293" name="Google Shape;293;g3f493a761e7_0_81"/>
            <p:cNvSpPr txBox="1"/>
            <p:nvPr/>
          </p:nvSpPr>
          <p:spPr>
            <a:xfrm>
              <a:off x="952500" y="2333625"/>
              <a:ext cx="8791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64748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CERTIFICAMOS QUE</a:t>
              </a:r>
              <a:endParaRPr sz="13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94" name="Google Shape;294;g3f493a761e7_0_81"/>
            <p:cNvSpPr txBox="1"/>
            <p:nvPr/>
          </p:nvSpPr>
          <p:spPr>
            <a:xfrm>
              <a:off x="952500" y="2714625"/>
              <a:ext cx="8791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>
                  <a:solidFill>
                    <a:srgbClr val="004B85"/>
                  </a:solidFill>
                  <a:latin typeface="Georgia"/>
                  <a:ea typeface="Georgia"/>
                  <a:cs typeface="Georgia"/>
                  <a:sym typeface="Georgia"/>
                </a:rPr>
                <a:t>Luana Araujo Dainese</a:t>
              </a:r>
              <a:endParaRPr sz="4000" b="1">
                <a:solidFill>
                  <a:srgbClr val="004B85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95" name="Google Shape;295;g3f493a761e7_0_81"/>
            <p:cNvSpPr/>
            <p:nvPr/>
          </p:nvSpPr>
          <p:spPr>
            <a:xfrm>
              <a:off x="3438525" y="3543300"/>
              <a:ext cx="3819600" cy="28500"/>
            </a:xfrm>
            <a:prstGeom prst="rect">
              <a:avLst/>
            </a:prstGeom>
            <a:solidFill>
              <a:srgbClr val="A0D3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g3f493a761e7_0_81"/>
            <p:cNvSpPr/>
            <p:nvPr/>
          </p:nvSpPr>
          <p:spPr>
            <a:xfrm>
              <a:off x="4391025" y="3543300"/>
              <a:ext cx="1914600" cy="28500"/>
            </a:xfrm>
            <a:prstGeom prst="rect">
              <a:avLst/>
            </a:prstGeom>
            <a:solidFill>
              <a:srgbClr val="004B8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7" name="Google Shape;297;g3f493a761e7_0_81"/>
          <p:cNvSpPr txBox="1"/>
          <p:nvPr/>
        </p:nvSpPr>
        <p:spPr>
          <a:xfrm>
            <a:off x="1143000" y="3762375"/>
            <a:ext cx="8410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415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concluiu com êxito o treinamento </a:t>
            </a:r>
            <a:r>
              <a:rPr lang="en-US" sz="1600" b="0">
                <a:solidFill>
                  <a:srgbClr val="004B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RPA Developer - Fundamentos Power Automate &amp; Blue Prism</a:t>
            </a:r>
            <a:r>
              <a:rPr lang="en-US" sz="1600" b="0">
                <a:solidFill>
                  <a:srgbClr val="33415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, disponibilizado pela área </a:t>
            </a:r>
            <a:r>
              <a:rPr lang="en-US" sz="1600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CoE RPA, Agentic AI &amp; Processos AZZAS</a:t>
            </a:r>
            <a:r>
              <a:rPr lang="en-US" sz="1600" b="0">
                <a:solidFill>
                  <a:srgbClr val="33415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, com carga horária de </a:t>
            </a:r>
            <a:r>
              <a:rPr lang="en-US" sz="1600" b="0">
                <a:solidFill>
                  <a:srgbClr val="004B8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62 horas</a:t>
            </a:r>
            <a:r>
              <a:rPr lang="en-US" sz="1600" b="0">
                <a:solidFill>
                  <a:srgbClr val="33415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.</a:t>
            </a:r>
            <a:endParaRPr sz="1600" b="0">
              <a:solidFill>
                <a:srgbClr val="334155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98" name="Google Shape;298;g3f493a761e7_0_81"/>
          <p:cNvSpPr txBox="1"/>
          <p:nvPr/>
        </p:nvSpPr>
        <p:spPr>
          <a:xfrm>
            <a:off x="4391025" y="5000625"/>
            <a:ext cx="19146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10/07/2025</a:t>
            </a:r>
            <a:endParaRPr sz="1200" b="0">
              <a:solidFill>
                <a:srgbClr val="64748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99" name="Google Shape;299;g3f493a761e7_0_81"/>
          <p:cNvGrpSpPr/>
          <p:nvPr/>
        </p:nvGrpSpPr>
        <p:grpSpPr>
          <a:xfrm>
            <a:off x="2486025" y="5143500"/>
            <a:ext cx="5724600" cy="1600275"/>
            <a:chOff x="2486025" y="5143500"/>
            <a:chExt cx="5724600" cy="1600275"/>
          </a:xfrm>
        </p:grpSpPr>
        <p:pic>
          <p:nvPicPr>
            <p:cNvPr id="300" name="Google Shape;300;g3f493a761e7_0_81"/>
            <p:cNvPicPr preferRelativeResize="0"/>
            <p:nvPr/>
          </p:nvPicPr>
          <p:blipFill rotWithShape="1">
            <a:blip r:embed="rId4">
              <a:alphaModFix/>
            </a:blip>
            <a:srcRect t="14843" b="14843"/>
            <a:stretch/>
          </p:blipFill>
          <p:spPr>
            <a:xfrm>
              <a:off x="4629150" y="5143500"/>
              <a:ext cx="1428900" cy="10479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01" name="Google Shape;301;g3f493a761e7_0_81"/>
            <p:cNvCxnSpPr/>
            <p:nvPr/>
          </p:nvCxnSpPr>
          <p:spPr>
            <a:xfrm>
              <a:off x="3914775" y="6143625"/>
              <a:ext cx="2857500" cy="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004B85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02" name="Google Shape;302;g3f493a761e7_0_81"/>
            <p:cNvSpPr txBox="1"/>
            <p:nvPr/>
          </p:nvSpPr>
          <p:spPr>
            <a:xfrm>
              <a:off x="2962275" y="6238875"/>
              <a:ext cx="47721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>
                  <a:solidFill>
                    <a:srgbClr val="004B85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Rael P. Borges</a:t>
              </a:r>
              <a:endParaRPr sz="1500" b="0">
                <a:solidFill>
                  <a:srgbClr val="004B85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03" name="Google Shape;303;g3f493a761e7_0_81"/>
            <p:cNvSpPr txBox="1"/>
            <p:nvPr/>
          </p:nvSpPr>
          <p:spPr>
            <a:xfrm>
              <a:off x="2486025" y="6505575"/>
              <a:ext cx="57246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64748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Coordenador de </a:t>
              </a:r>
              <a:r>
                <a:rPr lang="en-US" sz="1200">
                  <a:solidFill>
                    <a:srgbClr val="64748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CoE RPA, Agentic AI &amp; Processos AZZAS</a:t>
              </a:r>
              <a:endPara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304" name="Google Shape;304;g3f493a761e7_0_8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7750" y="6096000"/>
            <a:ext cx="714300" cy="7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g3f493a761e7_0_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16886" y="6191213"/>
            <a:ext cx="600075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f493a761e7_0_591"/>
          <p:cNvSpPr txBox="1"/>
          <p:nvPr/>
        </p:nvSpPr>
        <p:spPr>
          <a:xfrm>
            <a:off x="662209" y="1262214"/>
            <a:ext cx="5609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Conteúdo programático: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1" name="Google Shape;311;g3f493a761e7_0_591"/>
          <p:cNvSpPr txBox="1"/>
          <p:nvPr/>
        </p:nvSpPr>
        <p:spPr>
          <a:xfrm>
            <a:off x="662209" y="1712441"/>
            <a:ext cx="4868400" cy="16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3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1. Configuração do Treinamento Fundamental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40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3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2. Process Studio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40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3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3. Fluxo de Processo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40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3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4. Inputs e Outputs (Entradas e Saídas)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40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3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5. Objeto de Negócio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40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3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6. Object Studio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12" name="Google Shape;312;g3f493a761e7_0_591"/>
          <p:cNvSpPr txBox="1"/>
          <p:nvPr/>
        </p:nvSpPr>
        <p:spPr>
          <a:xfrm>
            <a:off x="5676958" y="1701830"/>
            <a:ext cx="4352700" cy="16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3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7. Visão Geral de Gestão de Erros e Casos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40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3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8. Gestão de Erros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40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3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9. Gestão de Caso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40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3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10. Funcionalidades Adicionais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40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3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11. Boas Práticas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40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3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12. Exercícios de Consolidação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13" name="Google Shape;313;g3f493a761e7_0_591"/>
          <p:cNvSpPr txBox="1"/>
          <p:nvPr/>
        </p:nvSpPr>
        <p:spPr>
          <a:xfrm>
            <a:off x="662209" y="3533664"/>
            <a:ext cx="5609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Helvetica Neue"/>
                <a:ea typeface="Helvetica Neue"/>
                <a:cs typeface="Helvetica Neue"/>
                <a:sym typeface="Helvetica Neue"/>
              </a:rPr>
              <a:t>Aproveitamento: 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95%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</Words>
  <Application>Microsoft Office PowerPoint</Application>
  <PresentationFormat>Personalizar</PresentationFormat>
  <Paragraphs>22</Paragraphs>
  <Slides>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10" baseType="lpstr">
      <vt:lpstr>Helvetica Neue Light</vt:lpstr>
      <vt:lpstr>Georgia</vt:lpstr>
      <vt:lpstr>Montserrat ExtraBold</vt:lpstr>
      <vt:lpstr>Montserrat Medium</vt:lpstr>
      <vt:lpstr>Arial</vt:lpstr>
      <vt:lpstr>Helvetica Neue</vt:lpstr>
      <vt:lpstr>Calibri</vt:lpstr>
      <vt:lpstr>Office Theme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Kamilla Souza da Costa</dc:creator>
  <cp:lastModifiedBy>Kamilla Souza da Costa</cp:lastModifiedBy>
  <cp:revision>2</cp:revision>
  <cp:lastPrinted>2026-07-10T17:51:45Z</cp:lastPrinted>
  <dcterms:created xsi:type="dcterms:W3CDTF">2006-08-16T00:00:00Z</dcterms:created>
  <dcterms:modified xsi:type="dcterms:W3CDTF">2026-07-16T13:42:12Z</dcterms:modified>
</cp:coreProperties>
</file>